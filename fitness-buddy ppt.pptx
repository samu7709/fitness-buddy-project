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775" y="2564606"/>
            <a:ext cx="15773400" cy="4279106"/>
            <a:chOff x="0" y="0"/>
            <a:chExt cx="21031200" cy="5705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705474"/>
            </a:xfrm>
            <a:custGeom>
              <a:avLst/>
              <a:gdLst/>
              <a:ahLst/>
              <a:cxnLst/>
              <a:rect r="r" b="b" t="t" l="l"/>
              <a:pathLst>
                <a:path h="570547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031200" cy="58007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0692"/>
                </a:lnSpc>
              </a:pPr>
              <a:r>
                <a:rPr lang="en-US" b="true" sz="99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University Engagement Project Submission</a:t>
              </a:r>
            </a:p>
            <a:p>
              <a:pPr algn="ctr">
                <a:lnSpc>
                  <a:spcPts val="1069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3516" y="5882145"/>
            <a:ext cx="15590549" cy="217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600" i="true">
                <a:solidFill>
                  <a:srgbClr val="88888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“Exploring the Power of Agentic AI with IBM Granite and LangFlow”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948885" y="3900472"/>
          <a:ext cx="15189323" cy="3238500"/>
        </p:xfrm>
        <a:graphic>
          <a:graphicData uri="http://schemas.openxmlformats.org/drawingml/2006/table">
            <a:tbl>
              <a:tblPr/>
              <a:tblGrid>
                <a:gridCol w="3094264"/>
                <a:gridCol w="3654563"/>
                <a:gridCol w="4969498"/>
                <a:gridCol w="3470997"/>
              </a:tblGrid>
              <a:tr h="14617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Name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Recent Passport Photo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lang="en-US" sz="1100"/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17767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Samarth Kadam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202401040131@mitaoe.ac.in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59"/>
                        </a:lnSpc>
                        <a:defRPr/>
                      </a:pPr>
                      <a:r>
                        <a:rPr lang="en-US" sz="28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8080126820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5930927" y="5519722"/>
            <a:ext cx="1456278" cy="1531348"/>
            <a:chOff x="0" y="0"/>
            <a:chExt cx="1525003" cy="16036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5016" cy="1603629"/>
            </a:xfrm>
            <a:custGeom>
              <a:avLst/>
              <a:gdLst/>
              <a:ahLst/>
              <a:cxnLst/>
              <a:rect r="r" b="b" t="t" l="l"/>
              <a:pathLst>
                <a:path h="1603629" w="1525016">
                  <a:moveTo>
                    <a:pt x="0" y="0"/>
                  </a:moveTo>
                  <a:lnTo>
                    <a:pt x="1525016" y="0"/>
                  </a:lnTo>
                  <a:lnTo>
                    <a:pt x="1525016" y="1603629"/>
                  </a:lnTo>
                  <a:lnTo>
                    <a:pt x="0" y="160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093" r="0" b="-1009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00676" y="2217734"/>
            <a:ext cx="1523753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b="true" sz="3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of  Project – Healthcare and Fitness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0666" y="835552"/>
            <a:ext cx="1418891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4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Tile – Fitness Buddy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3139" y="1235922"/>
            <a:ext cx="16941722" cy="877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8"/>
              </a:lnSpc>
            </a:pP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today's fast-paced world, maintaining a healthy lifestyle is increasingly </a:t>
            </a:r>
          </a:p>
          <a:p>
            <a:pPr algn="l">
              <a:lnSpc>
                <a:spcPts val="4768"/>
              </a:lnSpc>
            </a:pP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difficult. Existing fitness solutions are expensive, rigid, and impersonal. There is </a:t>
            </a:r>
          </a:p>
          <a:p>
            <a:pPr algn="l">
              <a:lnSpc>
                <a:spcPts val="4768"/>
              </a:lnSpc>
            </a:pP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critical need for an intelligent, accessible, and personalized virtual fitness </a:t>
            </a:r>
          </a:p>
          <a:p>
            <a:pPr algn="l">
              <a:lnSpc>
                <a:spcPts val="4768"/>
              </a:lnSpc>
            </a:pP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assistant available to everyone — anytime, anywhere. </a:t>
            </a:r>
          </a:p>
          <a:p>
            <a:pPr algn="l" marL="655685" indent="-327842" lvl="1">
              <a:lnSpc>
                <a:spcPts val="4768"/>
              </a:lnSpc>
              <a:buFont typeface="Arial"/>
              <a:buChar char="•"/>
            </a:pPr>
            <a:r>
              <a:rPr lang="en-US" b="true" sz="30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High Cost of Fitness Guidance - </a:t>
            </a: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Personal trainers, gym memberships, and nutrition consultations are expensive and inaccessible for most people. </a:t>
            </a:r>
          </a:p>
          <a:p>
            <a:pPr algn="l" marL="655685" indent="-327842" lvl="1">
              <a:lnSpc>
                <a:spcPts val="4768"/>
              </a:lnSpc>
              <a:buFont typeface="Arial"/>
              <a:buChar char="•"/>
            </a:pPr>
            <a:r>
              <a:rPr lang="en-US" b="true" sz="30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Time Constraints &amp; Rigid Schedules - </a:t>
            </a: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fitness programs demand fixed schedules that don't fit busy lifestyles, desk jobs, or family responsibilities. </a:t>
            </a:r>
          </a:p>
          <a:p>
            <a:pPr algn="l" marL="655685" indent="-327842" lvl="1">
              <a:lnSpc>
                <a:spcPts val="4768"/>
              </a:lnSpc>
              <a:buFont typeface="Arial"/>
              <a:buChar char="•"/>
            </a:pPr>
            <a:r>
              <a:rPr lang="en-US" b="true" sz="30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Lack of Personalization - </a:t>
            </a: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Generic workout and diet plans ignore individual body stats, goals, dietary preferences, and cultural food habits. </a:t>
            </a:r>
          </a:p>
          <a:p>
            <a:pPr algn="l" marL="655685" indent="-327842" lvl="1">
              <a:lnSpc>
                <a:spcPts val="4768"/>
              </a:lnSpc>
              <a:buFont typeface="Arial"/>
              <a:buChar char="•"/>
            </a:pPr>
            <a:r>
              <a:rPr lang="en-US" b="true" sz="30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Inconsistent Motivation - </a:t>
            </a: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ongoing support and encouragement, most people abandon their fitness goals within weeks of starting. </a:t>
            </a:r>
          </a:p>
          <a:p>
            <a:pPr algn="l" marL="655685" indent="-327842" lvl="1">
              <a:lnSpc>
                <a:spcPts val="4768"/>
              </a:lnSpc>
              <a:buFont typeface="Arial"/>
              <a:buChar char="•"/>
            </a:pPr>
            <a:r>
              <a:rPr lang="en-US" b="true" sz="3036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 Culturally Relevant Nutrition Guidance - </a:t>
            </a:r>
            <a:r>
              <a:rPr lang="en-US" sz="303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fitness apps ignore regional dietary habits. Indian users lack guidance tailored to dal, roti, sabzi, and traditional meal patterns.</a:t>
            </a:r>
          </a:p>
          <a:p>
            <a:pPr algn="l">
              <a:lnSpc>
                <a:spcPts val="2553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73139" y="438150"/>
            <a:ext cx="1063907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b="true" sz="3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6916" y="608888"/>
            <a:ext cx="17177306" cy="924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  <a:spcBef>
                <a:spcPct val="0"/>
              </a:spcBef>
            </a:pPr>
            <a:r>
              <a:rPr lang="en-US" b="true" sz="395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  <a:p>
            <a:pPr algn="l">
              <a:lnSpc>
                <a:spcPts val="4718"/>
              </a:lnSpc>
            </a:pPr>
          </a:p>
          <a:p>
            <a:pPr algn="l">
              <a:lnSpc>
                <a:spcPts val="5392"/>
              </a:lnSpc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Fitness Buddy AI is an AI-powered web application built using Python Flask and IBM Watsonx.ai (Granite model). It provides personalized fitness guidance, workout plans, meal recommendations, and health tracking through an interactive chatbot.</a:t>
            </a:r>
          </a:p>
          <a:p>
            <a:pPr algn="l">
              <a:lnSpc>
                <a:spcPts val="5392"/>
              </a:lnSpc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</a:p>
          <a:p>
            <a:pPr algn="l" marL="718702" indent="-359351" lvl="1">
              <a:lnSpc>
                <a:spcPts val="5392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🤖 AI Fitness Chatbot – Answers fitness and nutrition queries in real time.</a:t>
            </a:r>
          </a:p>
          <a:p>
            <a:pPr algn="l" marL="718702" indent="-359351" lvl="1">
              <a:lnSpc>
                <a:spcPts val="5392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🏋️ Personalized Workout Plans – Beginner, Intermediate, Weight Loss, and Yoga plans.</a:t>
            </a:r>
          </a:p>
          <a:p>
            <a:pPr algn="l" marL="718702" indent="-359351" lvl="1">
              <a:lnSpc>
                <a:spcPts val="5392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🍛 Indian Meal Plans – Diet plans for Weight Loss, Muscle Gain, and Balanced Fitness.</a:t>
            </a:r>
          </a:p>
          <a:p>
            <a:pPr algn="l" marL="718702" indent="-359351" lvl="1">
              <a:lnSpc>
                <a:spcPts val="5392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BMI &amp; Calorie Calculator – Calculates BMI, calorie needs, and ideal weight range.</a:t>
            </a:r>
          </a:p>
          <a:p>
            <a:pPr algn="l" marL="718702" indent="-359351" lvl="1">
              <a:lnSpc>
                <a:spcPts val="5392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Habit Tracker – Tracks water intake, sleep, workouts, and daily steps.</a:t>
            </a:r>
          </a:p>
          <a:p>
            <a:pPr algn="l" marL="718702" indent="-359351" lvl="1">
              <a:lnSpc>
                <a:spcPts val="5392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Daily Motivation – Provides fitness tips and motivational quotes to keep users consistant.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9650" y="1412926"/>
            <a:ext cx="17043434" cy="709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5"/>
              </a:lnSpc>
            </a:pPr>
            <a:r>
              <a:rPr lang="en-US" sz="3278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                                                                  Purpose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 Lite                                   API key authentication and cloud services 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IBM Watsonx.ai                                 AI platform for hosting and accessing Granite models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IBM Granite 4H Small                       Generates AI-based fitness and nutrition responses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 Flask                                     Backend development, REST APIs, and session management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IBM Watsonx.ai SDK                        Connects Flask application with Watsonx.ai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Bootstrap 5 &amp; CSS                           Responsive, mobile-friendly user interface</a:t>
            </a:r>
          </a:p>
          <a:p>
            <a:pPr algn="l">
              <a:lnSpc>
                <a:spcPts val="6387"/>
              </a:lnSpc>
            </a:pP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                                        Chatbot interaction, BMI calculator, workout timer, and habit tracker</a:t>
            </a:r>
          </a:p>
          <a:p>
            <a:pPr algn="l">
              <a:lnSpc>
                <a:spcPts val="2796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656"/>
            <a:ext cx="10501913" cy="62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3226395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4219170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28700" y="4967629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28700" y="5716087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028700" y="6468562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028700" y="7340100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009650" y="8211637"/>
            <a:ext cx="165190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1009650" y="2614410"/>
            <a:ext cx="1651909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009650" y="1774876"/>
            <a:ext cx="165000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09650" y="1755826"/>
            <a:ext cx="0" cy="65137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5705326" y="1774876"/>
            <a:ext cx="0" cy="65137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7547792" y="1774876"/>
            <a:ext cx="0" cy="65137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0125"/>
            <a:ext cx="886339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b="true" sz="3600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component Used 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6386" y="1832610"/>
            <a:ext cx="16452914" cy="6653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Chat Input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Receives user fitness queries.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Data Input (User Profile)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Collects age, height, weight, fitness goal, and diet preference.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Prompt Template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Loads system instructions and AI behavior.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Conversation Memory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Maintains chat history for context-aware responses.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Agent Executor (FitBuddy Agent)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Processes requests and manages workflow.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Tool Node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Executes BMI calculation, workout planning, and meal planning.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Cloud IAM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Authenticates using IBM Cloud API Key.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Watsonx.ai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Connects the application to IBM AI services.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Granite 4H Small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Generates personalized AI fitness responses.</a:t>
            </a:r>
          </a:p>
          <a:p>
            <a:pPr algn="l" marL="668654" indent="-334327" lvl="1">
              <a:lnSpc>
                <a:spcPts val="5326"/>
              </a:lnSpc>
              <a:buFont typeface="Arial"/>
              <a:buChar char="•"/>
            </a:pP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true" sz="3097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Chat Output </a:t>
            </a:r>
            <a:r>
              <a:rPr lang="en-US" sz="309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Displays the final response to the user.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6386" y="1728923"/>
            <a:ext cx="16578601" cy="8060404"/>
          </a:xfrm>
          <a:custGeom>
            <a:avLst/>
            <a:gdLst/>
            <a:ahLst/>
            <a:cxnLst/>
            <a:rect r="r" b="b" t="t" l="l"/>
            <a:pathLst>
              <a:path h="8060404" w="16578601">
                <a:moveTo>
                  <a:pt x="0" y="0"/>
                </a:moveTo>
                <a:lnTo>
                  <a:pt x="16578601" y="0"/>
                </a:lnTo>
                <a:lnTo>
                  <a:pt x="16578601" y="8060404"/>
                </a:lnTo>
                <a:lnTo>
                  <a:pt x="0" y="8060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6386" y="456286"/>
            <a:ext cx="8863394" cy="70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b="true" sz="3600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workflow 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6386" y="1056361"/>
            <a:ext cx="16671464" cy="8391357"/>
          </a:xfrm>
          <a:custGeom>
            <a:avLst/>
            <a:gdLst/>
            <a:ahLst/>
            <a:cxnLst/>
            <a:rect r="r" b="b" t="t" l="l"/>
            <a:pathLst>
              <a:path h="8391357" w="16671464">
                <a:moveTo>
                  <a:pt x="0" y="0"/>
                </a:moveTo>
                <a:lnTo>
                  <a:pt x="16671465" y="0"/>
                </a:lnTo>
                <a:lnTo>
                  <a:pt x="16671465" y="8391356"/>
                </a:lnTo>
                <a:lnTo>
                  <a:pt x="0" y="83913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6386" y="408661"/>
            <a:ext cx="886339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b="true" sz="3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blueprint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16768"/>
            <a:ext cx="13793753" cy="80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Role of Agentic AI in the solution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99799" y="1762125"/>
            <a:ext cx="16868163" cy="700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</a:pPr>
          </a:p>
          <a:p>
            <a:pPr algn="l" marL="698316" indent="-349158" lvl="1">
              <a:lnSpc>
                <a:spcPts val="4528"/>
              </a:lnSpc>
              <a:buFont typeface="Arial"/>
              <a:buChar char="•"/>
            </a:pP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Acts as a Personal Fitness Coach – Provides 24/7 personalized fitness and nutrition guidance.</a:t>
            </a:r>
          </a:p>
          <a:p>
            <a:pPr algn="l" marL="698316" indent="-349158" lvl="1">
              <a:lnSpc>
                <a:spcPts val="4528"/>
              </a:lnSpc>
              <a:buFont typeface="Arial"/>
              <a:buChar char="•"/>
            </a:pP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Intelligent Decisions – Analyzes user input and recommends suitable workouts, meal plans, or health tips.</a:t>
            </a:r>
          </a:p>
          <a:p>
            <a:pPr algn="l" marL="698316" indent="-349158" lvl="1">
              <a:lnSpc>
                <a:spcPts val="4528"/>
              </a:lnSpc>
              <a:buFont typeface="Arial"/>
              <a:buChar char="•"/>
            </a:pP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Goal-Oriented Assistance – Tailors advice based on the user's fitness goals, age, BMI, and preferences.</a:t>
            </a:r>
          </a:p>
          <a:p>
            <a:pPr algn="l" marL="698316" indent="-349158" lvl="1">
              <a:lnSpc>
                <a:spcPts val="4528"/>
              </a:lnSpc>
              <a:buFont typeface="Arial"/>
              <a:buChar char="•"/>
            </a:pP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Context-Aware Interaction – Remembers previous conversations to deliver relevant and consistent responses.</a:t>
            </a:r>
          </a:p>
          <a:p>
            <a:pPr algn="l" marL="698316" indent="-349158" lvl="1">
              <a:lnSpc>
                <a:spcPts val="4528"/>
              </a:lnSpc>
              <a:buFont typeface="Arial"/>
              <a:buChar char="•"/>
            </a:pP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Ensures Safe Recommendations – Avoids harmful advice and encourages professional consultation when necessary.</a:t>
            </a:r>
          </a:p>
          <a:p>
            <a:pPr algn="l" marL="698316" indent="-349158" lvl="1">
              <a:lnSpc>
                <a:spcPts val="4528"/>
              </a:lnSpc>
              <a:buFont typeface="Arial"/>
              <a:buChar char="•"/>
            </a:pPr>
            <a:r>
              <a:rPr lang="en-US" sz="32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Indian Lifestyle – Suggests culturally relevant Indian diets and fitness practices.</a:t>
            </a:r>
          </a:p>
          <a:p>
            <a:pPr algn="l">
              <a:lnSpc>
                <a:spcPts val="2547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95759" y="2232146"/>
            <a:ext cx="12696482" cy="5822709"/>
          </a:xfrm>
          <a:custGeom>
            <a:avLst/>
            <a:gdLst/>
            <a:ahLst/>
            <a:cxnLst/>
            <a:rect r="r" b="b" t="t" l="l"/>
            <a:pathLst>
              <a:path h="5822709" w="12696482">
                <a:moveTo>
                  <a:pt x="0" y="0"/>
                </a:moveTo>
                <a:lnTo>
                  <a:pt x="12696482" y="0"/>
                </a:lnTo>
                <a:lnTo>
                  <a:pt x="12696482" y="5822708"/>
                </a:lnTo>
                <a:lnTo>
                  <a:pt x="0" y="5822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9787" y="255165"/>
            <a:ext cx="966674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Token Usage 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57281" y="744074"/>
            <a:ext cx="10501913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Novelty and Uniqueness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24000"/>
            <a:ext cx="16770125" cy="8764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Indian-First Fitness Coach 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Provides workout and meal recommendations tailored to Indian diets and lifestyles.</a:t>
            </a:r>
          </a:p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IBM Granite-Powered AI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Uses IBM Watsonx.ai for intelligent, safe, and personalized fitness guidance.</a:t>
            </a:r>
          </a:p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Customizable AI Agent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AI behavior (tone, safety rules, and nutrition style) can be easily modified through configuration.</a:t>
            </a:r>
          </a:p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All-in-One Platform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Combines AI chat, BMI calculator, workout planner, meal planner, and habit tracker in a single web application.</a:t>
            </a:r>
          </a:p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Context-Aware Agentic AI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Remembers previous conversations to deliver personalized and goal-oriented responses.</a:t>
            </a:r>
          </a:p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Safety-First Design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Encourages healthy practices and avoids unsafe fitness recommendations.</a:t>
            </a:r>
          </a:p>
          <a:p>
            <a:pPr algn="l" marL="647695" indent="-323848" lvl="1">
              <a:lnSpc>
                <a:spcPts val="476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 Installation Required – </a:t>
            </a: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Browser-based application with a responsive interface and dark mode support.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086" y="373923"/>
            <a:ext cx="966674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 Hub Link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086" y="1454344"/>
            <a:ext cx="13821870" cy="80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0"/>
              </a:lnSpc>
            </a:pPr>
            <a:r>
              <a:rPr lang="en-US" sz="3499">
                <a:solidFill>
                  <a:srgbClr val="2B3541"/>
                </a:solidFill>
                <a:latin typeface="Arial"/>
                <a:ea typeface="Arial"/>
                <a:cs typeface="Arial"/>
                <a:sym typeface="Arial"/>
              </a:rPr>
              <a:t>https://github.com/Samu7709/Fitness-buddy-Project/tree/main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5023"/>
            <a:ext cx="9666742" cy="84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5"/>
              </a:lnSpc>
            </a:pPr>
            <a:r>
              <a:rPr lang="en-US" b="true" sz="3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1099" y="1536380"/>
            <a:ext cx="16568201" cy="7985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Mobile Application – Develop Android and iOS versions for easier access.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Wearable Integration – Connect with smartwatches and fitness bands to track real-time health data.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Advanced AI Nutrition – Generate personalized meal plans based on medical conditions and dietary preferences.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Progress Analytics – Provide detailed reports, graphs, and AI-powered fitness insights.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Exercise Demonstrations – Add video tutorials and AI-based posture correction.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Multi-language Support – Support regional languages to reach a wider audience.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Community Features – Introduce fitness challenges, leaderboards, and social sharing for motivation.</a:t>
            </a:r>
          </a:p>
          <a:p>
            <a:pPr algn="l" marL="690874" indent="-345437" lvl="1">
              <a:lnSpc>
                <a:spcPts val="5311"/>
              </a:lnSpc>
              <a:buFont typeface="Arial"/>
              <a:buChar char="•"/>
            </a:pPr>
            <a:r>
              <a:rPr lang="en-US" sz="3199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Healthcare Integration – Enable secure sharing of health reports with doctors and fitness professionals.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1206" y="2438892"/>
            <a:ext cx="8983928" cy="6925998"/>
          </a:xfrm>
          <a:custGeom>
            <a:avLst/>
            <a:gdLst/>
            <a:ahLst/>
            <a:cxnLst/>
            <a:rect r="r" b="b" t="t" l="l"/>
            <a:pathLst>
              <a:path h="6925998" w="8983928">
                <a:moveTo>
                  <a:pt x="0" y="0"/>
                </a:moveTo>
                <a:lnTo>
                  <a:pt x="8983928" y="0"/>
                </a:lnTo>
                <a:lnTo>
                  <a:pt x="8983928" y="6925999"/>
                </a:lnTo>
                <a:lnTo>
                  <a:pt x="0" y="692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6480" y="1009650"/>
            <a:ext cx="896114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4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</a:p>
          <a:p>
            <a:pPr algn="ctr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84964" y="2154832"/>
            <a:ext cx="9093097" cy="7103468"/>
          </a:xfrm>
          <a:custGeom>
            <a:avLst/>
            <a:gdLst/>
            <a:ahLst/>
            <a:cxnLst/>
            <a:rect r="r" b="b" t="t" l="l"/>
            <a:pathLst>
              <a:path h="7103468" w="9093097">
                <a:moveTo>
                  <a:pt x="0" y="0"/>
                </a:moveTo>
                <a:lnTo>
                  <a:pt x="9093097" y="0"/>
                </a:lnTo>
                <a:lnTo>
                  <a:pt x="9093097" y="7103468"/>
                </a:lnTo>
                <a:lnTo>
                  <a:pt x="0" y="71034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6480" y="1009650"/>
            <a:ext cx="896114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4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</a:p>
          <a:p>
            <a:pPr algn="ctr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6875" y="2076450"/>
            <a:ext cx="9362015" cy="7216829"/>
          </a:xfrm>
          <a:custGeom>
            <a:avLst/>
            <a:gdLst/>
            <a:ahLst/>
            <a:cxnLst/>
            <a:rect r="r" b="b" t="t" l="l"/>
            <a:pathLst>
              <a:path h="7216829" w="9362015">
                <a:moveTo>
                  <a:pt x="0" y="0"/>
                </a:moveTo>
                <a:lnTo>
                  <a:pt x="9362015" y="0"/>
                </a:lnTo>
                <a:lnTo>
                  <a:pt x="9362015" y="7216829"/>
                </a:lnTo>
                <a:lnTo>
                  <a:pt x="0" y="72168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6480" y="1009650"/>
            <a:ext cx="896114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4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</a:p>
          <a:p>
            <a:pPr algn="ctr">
              <a:lnSpc>
                <a:spcPts val="323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27705" y="2199736"/>
            <a:ext cx="11460252" cy="7058564"/>
          </a:xfrm>
          <a:custGeom>
            <a:avLst/>
            <a:gdLst/>
            <a:ahLst/>
            <a:cxnLst/>
            <a:rect r="r" b="b" t="t" l="l"/>
            <a:pathLst>
              <a:path h="7058564" w="11460252">
                <a:moveTo>
                  <a:pt x="0" y="0"/>
                </a:moveTo>
                <a:lnTo>
                  <a:pt x="11460253" y="0"/>
                </a:lnTo>
                <a:lnTo>
                  <a:pt x="11460253" y="7058564"/>
                </a:lnTo>
                <a:lnTo>
                  <a:pt x="0" y="7058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0125"/>
            <a:ext cx="8961149" cy="95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algn="ctr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24306" y="2301990"/>
            <a:ext cx="11567581" cy="7159436"/>
          </a:xfrm>
          <a:custGeom>
            <a:avLst/>
            <a:gdLst/>
            <a:ahLst/>
            <a:cxnLst/>
            <a:rect r="r" b="b" t="t" l="l"/>
            <a:pathLst>
              <a:path h="7159436" w="11567581">
                <a:moveTo>
                  <a:pt x="0" y="0"/>
                </a:moveTo>
                <a:lnTo>
                  <a:pt x="11567581" y="0"/>
                </a:lnTo>
                <a:lnTo>
                  <a:pt x="11567581" y="7159436"/>
                </a:lnTo>
                <a:lnTo>
                  <a:pt x="0" y="7159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00125"/>
            <a:ext cx="8961149" cy="95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algn="ctr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511" y="1280621"/>
            <a:ext cx="8596489" cy="4079484"/>
          </a:xfrm>
          <a:custGeom>
            <a:avLst/>
            <a:gdLst/>
            <a:ahLst/>
            <a:cxnLst/>
            <a:rect r="r" b="b" t="t" l="l"/>
            <a:pathLst>
              <a:path h="4079484" w="8596489">
                <a:moveTo>
                  <a:pt x="0" y="0"/>
                </a:moveTo>
                <a:lnTo>
                  <a:pt x="8596489" y="0"/>
                </a:lnTo>
                <a:lnTo>
                  <a:pt x="8596489" y="4079484"/>
                </a:lnTo>
                <a:lnTo>
                  <a:pt x="0" y="40794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17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11724" y="1309879"/>
            <a:ext cx="8802480" cy="4020968"/>
          </a:xfrm>
          <a:custGeom>
            <a:avLst/>
            <a:gdLst/>
            <a:ahLst/>
            <a:cxnLst/>
            <a:rect r="r" b="b" t="t" l="l"/>
            <a:pathLst>
              <a:path h="4020968" w="8802480">
                <a:moveTo>
                  <a:pt x="0" y="0"/>
                </a:moveTo>
                <a:lnTo>
                  <a:pt x="8802480" y="0"/>
                </a:lnTo>
                <a:lnTo>
                  <a:pt x="8802480" y="4020968"/>
                </a:lnTo>
                <a:lnTo>
                  <a:pt x="0" y="4020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3473" y="5645855"/>
            <a:ext cx="8638251" cy="3965626"/>
          </a:xfrm>
          <a:custGeom>
            <a:avLst/>
            <a:gdLst/>
            <a:ahLst/>
            <a:cxnLst/>
            <a:rect r="r" b="b" t="t" l="l"/>
            <a:pathLst>
              <a:path h="3965626" w="8638251">
                <a:moveTo>
                  <a:pt x="0" y="0"/>
                </a:moveTo>
                <a:lnTo>
                  <a:pt x="8638251" y="0"/>
                </a:lnTo>
                <a:lnTo>
                  <a:pt x="8638251" y="3965626"/>
                </a:lnTo>
                <a:lnTo>
                  <a:pt x="0" y="3965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07759" y="5645855"/>
            <a:ext cx="8606445" cy="4037348"/>
          </a:xfrm>
          <a:custGeom>
            <a:avLst/>
            <a:gdLst/>
            <a:ahLst/>
            <a:cxnLst/>
            <a:rect r="r" b="b" t="t" l="l"/>
            <a:pathLst>
              <a:path h="4037348" w="8606445">
                <a:moveTo>
                  <a:pt x="0" y="0"/>
                </a:moveTo>
                <a:lnTo>
                  <a:pt x="8606445" y="0"/>
                </a:lnTo>
                <a:lnTo>
                  <a:pt x="8606445" y="4037349"/>
                </a:lnTo>
                <a:lnTo>
                  <a:pt x="0" y="40373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28625"/>
            <a:ext cx="394473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5"/>
              </a:lnSpc>
            </a:pPr>
            <a:r>
              <a:rPr lang="en-US" sz="38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of project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85449"/>
            <a:ext cx="18288000" cy="3716093"/>
            <a:chOff x="0" y="0"/>
            <a:chExt cx="24384000" cy="4954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4778"/>
            </a:xfrm>
            <a:custGeom>
              <a:avLst/>
              <a:gdLst/>
              <a:ahLst/>
              <a:cxnLst/>
              <a:rect r="r" b="b" t="t" l="l"/>
              <a:pathLst>
                <a:path h="49547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4778"/>
                  </a:lnTo>
                  <a:lnTo>
                    <a:pt x="0" y="4954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DAHOyukFkjI</dc:identifier>
  <dcterms:modified xsi:type="dcterms:W3CDTF">2011-08-01T06:04:30Z</dcterms:modified>
  <cp:revision>1</cp:revision>
  <dc:title>AICTE_Project Submission Template for EduentFoundation_IBMUniversityEngagement (1).pptx</dc:title>
</cp:coreProperties>
</file>